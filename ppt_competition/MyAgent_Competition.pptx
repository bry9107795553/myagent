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AMD AI DEVMASTER 2026  •  TRACK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914400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800" b="1" i="0">
                <a:solidFill>
                  <a:srgbClr val="06B6D4"/>
                </a:solidFill>
                <a:latin typeface="Space Grotesk"/>
              </a:rPr>
              <a:t>LOCAL  PRIVATE  AI  DEVELOPMENT 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1463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0" b="1" i="0">
                <a:solidFill>
                  <a:srgbClr val="E5E7EB"/>
                </a:solidFill>
                <a:latin typeface="Space Grotesk"/>
              </a:rPr>
              <a:t>MyAgent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94A3B8"/>
                </a:solidFill>
                <a:latin typeface="Inter"/>
              </a:rPr>
              <a:t>19 specialized AI roles.  Fully offline on AMD Radeon.  Zero remote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20640"/>
            <a:ext cx="2651760" cy="86868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5E7EB"/>
                </a:solidFill>
                <a:latin typeface="Inter"/>
              </a:rPr>
              <a:t>HARDWARE
AMD Radeon PRO W7900 • 48GB GDDR6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5120640"/>
            <a:ext cx="2651760" cy="86868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5E7EB"/>
                </a:solidFill>
                <a:latin typeface="Inter"/>
              </a:rPr>
              <a:t>RUNTIME
ROCm 7.2 • llama.cpp + HIPBLAS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120640"/>
            <a:ext cx="2651760" cy="86868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5E7EB"/>
                </a:solidFill>
                <a:latin typeface="Inter"/>
              </a:rPr>
              <a:t>MODEL
Qwen2.5-14B-Instruct (Q4_K_M)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5120640"/>
            <a:ext cx="2651760" cy="86868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5E7EB"/>
                </a:solidFill>
                <a:latin typeface="Inter"/>
              </a:rPr>
              <a:t>PRIVACY
100% on-device • no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Submitted to AMD AI DevMaster Hackathon • Track 2 • Private AI Agent Development &amp; Local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What this deck covers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212080" cy="219456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188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>
                <a:solidFill>
                  <a:srgbClr val="ED1C24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32004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3474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5E7EB"/>
                </a:solidFill>
                <a:latin typeface="Inter"/>
              </a:rPr>
              <a:t>Why a local private AI agent matters for 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6634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Cloud lock-in, telemetry leak, vendor lock-in — the cost of leaking source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212080" cy="219456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1188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>
                <a:solidFill>
                  <a:srgbClr val="ED1C24"/>
                </a:solidFill>
                <a:latin typeface="Space Grotes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103120"/>
            <a:ext cx="32004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468880"/>
            <a:ext cx="3474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5E7EB"/>
                </a:solidFill>
                <a:latin typeface="Inter"/>
              </a:rPr>
              <a:t>Four-tier system, 19 roles, in one offline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46634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Layers from Vue UI down to llama.cpp on a single Radeon GPU.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5212080" cy="219456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1188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>
                <a:solidFill>
                  <a:srgbClr val="ED1C24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72000"/>
            <a:ext cx="32004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37760"/>
            <a:ext cx="3474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5E7EB"/>
                </a:solidFill>
                <a:latin typeface="Inter"/>
              </a:rPr>
              <a:t>Two hard wins — prompt prefill cut, memory that ages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46634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59.9% prompt slimming; +1 / −1 / −2 experience scoring.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97680"/>
            <a:ext cx="5212080" cy="219456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1188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 i="0">
                <a:solidFill>
                  <a:srgbClr val="ED1C24"/>
                </a:solidFill>
                <a:latin typeface="Space Grotes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572000"/>
            <a:ext cx="32004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937760"/>
            <a:ext cx="347472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5E7EB"/>
                </a:solidFill>
                <a:latin typeface="Inter"/>
              </a:rPr>
              <a:t>Live dev_full relay + the 90-second memory poisoning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15000"/>
            <a:ext cx="466344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94A3B8"/>
                </a:solidFill>
                <a:latin typeface="Inter"/>
              </a:rPr>
              <a:t>A reproducible benchmark of memory self-eviction on real Radeon silicon.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WHY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The cost of sending code off-device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1">
                <a:solidFill>
                  <a:srgbClr val="E5E7EB"/>
                </a:solidFill>
                <a:latin typeface="Inter"/>
              </a:rPr>
              <a:t>Cloud-hosted AI agents are convenient — until your codebase, design docs, or customer data leave the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" y="2468880"/>
            <a:ext cx="365760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5127" y="2834640"/>
            <a:ext cx="36576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2926080"/>
            <a:ext cx="292608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i="0">
                <a:solidFill>
                  <a:srgbClr val="ED1C24"/>
                </a:solidFill>
                <a:latin typeface="Space Grotesk"/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4343399"/>
            <a:ext cx="29260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5E7EB"/>
                </a:solidFill>
                <a:latin typeface="Inter"/>
              </a:rPr>
              <a:t>of source code in cloud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937760"/>
            <a:ext cx="292608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leaves the laptop within 30 days.  Once shipped, telemetry, prompts, and clipboard content leave with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047" y="2468880"/>
            <a:ext cx="365760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2834640"/>
            <a:ext cx="365760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807" y="2926080"/>
            <a:ext cx="292608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i="0">
                <a:solidFill>
                  <a:srgbClr val="06B6D4"/>
                </a:solidFill>
                <a:latin typeface="Space Grotes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4343399"/>
            <a:ext cx="29260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5E7EB"/>
                </a:solidFill>
                <a:latin typeface="Inter"/>
              </a:rPr>
              <a:t>lock-in vectors in the avg. SaaS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4937760"/>
            <a:ext cx="292608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API key, base URL, and model ID — all owned by a single vendor.  Migration cost zero, business survival cost huge.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8967" y="2468880"/>
            <a:ext cx="3657600" cy="338328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8967" y="2834640"/>
            <a:ext cx="365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4727" y="2926080"/>
            <a:ext cx="292608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1" i="0">
                <a:solidFill>
                  <a:srgbClr val="10B981"/>
                </a:solidFill>
                <a:latin typeface="Space Grotesk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4727" y="4343399"/>
            <a:ext cx="29260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5E7EB"/>
                </a:solidFill>
                <a:latin typeface="Inter"/>
              </a:rPr>
              <a:t>telemetry bytes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4727" y="4937760"/>
            <a:ext cx="292608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MyAgent ships with a runtime guard that rejects any non-localhost inference endpoint.  You can read the guard in 8 lines.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89320"/>
            <a:ext cx="548640" cy="45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E5E7EB"/>
                </a:solidFill>
                <a:latin typeface="Inter"/>
              </a:rPr>
              <a:t>Insight  —  Track 2 of this hackathon was built for exactly this problem.  The hosting platform you trust is the one that ships with your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Six layers, one offline process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85800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949440"/>
            <a:ext cx="6858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Figure 1  —  end-to-end MyAgent stack, 19 roles → orchestrator → 1 Radeon GPU.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691640"/>
            <a:ext cx="4023360" cy="521208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828800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READING THE DIAGRAM</a:t>
            </a:r>
          </a:p>
        </p:txBody>
      </p:sp>
      <p:sp>
        <p:nvSpPr>
          <p:cNvPr id="11" name="Oval 10"/>
          <p:cNvSpPr/>
          <p:nvPr/>
        </p:nvSpPr>
        <p:spPr>
          <a:xfrm>
            <a:off x="7973568" y="2350008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24028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L1 ·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496312"/>
            <a:ext cx="32461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llama.cpp + HIPBLAS on W7900.  GGUF Q4_K_M, ctx 8k–16k.  No Python / CUDA layer.</a:t>
            </a:r>
          </a:p>
        </p:txBody>
      </p:sp>
      <p:sp>
        <p:nvSpPr>
          <p:cNvPr id="14" name="Oval 13"/>
          <p:cNvSpPr/>
          <p:nvPr/>
        </p:nvSpPr>
        <p:spPr>
          <a:xfrm>
            <a:off x="7973568" y="312724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30175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JetBrains Mono"/>
              </a:rPr>
              <a:t>L2 · 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273552"/>
            <a:ext cx="32461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FastAPI + WebSocket.  Master dispatcher routes by intent and routes never share context.</a:t>
            </a:r>
          </a:p>
        </p:txBody>
      </p:sp>
      <p:sp>
        <p:nvSpPr>
          <p:cNvPr id="17" name="Oval 16"/>
          <p:cNvSpPr/>
          <p:nvPr/>
        </p:nvSpPr>
        <p:spPr>
          <a:xfrm>
            <a:off x="7973568" y="3904488"/>
            <a:ext cx="128016" cy="12801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379476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JetBrains Mono"/>
              </a:rPr>
              <a:t>L3 · Role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4050792"/>
            <a:ext cx="32461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19 specialized agents, each with a slim prompt (≤900 chars) and capability tags.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4681728"/>
            <a:ext cx="128016" cy="128016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57200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L4 · Memory ×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828032"/>
            <a:ext cx="32461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Blackboard + utility-scored experience + TTL knowledge + per-role boundary.  See slide 06.</a:t>
            </a:r>
          </a:p>
        </p:txBody>
      </p:sp>
      <p:sp>
        <p:nvSpPr>
          <p:cNvPr id="23" name="Oval 22"/>
          <p:cNvSpPr/>
          <p:nvPr/>
        </p:nvSpPr>
        <p:spPr>
          <a:xfrm>
            <a:off x="7973568" y="5458968"/>
            <a:ext cx="128016" cy="128016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534924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L5 · API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5605272"/>
            <a:ext cx="32461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REST + SSE multiplexing, request validation.  Local-only base-urls enforced in settings.</a:t>
            </a:r>
          </a:p>
        </p:txBody>
      </p:sp>
      <p:sp>
        <p:nvSpPr>
          <p:cNvPr id="26" name="Oval 25"/>
          <p:cNvSpPr/>
          <p:nvPr/>
        </p:nvSpPr>
        <p:spPr>
          <a:xfrm>
            <a:off x="7973568" y="6236208"/>
            <a:ext cx="128016" cy="12801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612648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JetBrains Mono"/>
              </a:rPr>
              <a:t>L6 ·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6382512"/>
            <a:ext cx="324612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Vue 3 SPA — chat view, role timeline, memory inspector.  No telemetry, no CDN.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All five Track-2 checkpoint features —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94A3B8"/>
                </a:solidFill>
                <a:latin typeface="Inter"/>
              </a:rPr>
              <a:t>The hackathon mandates 5-of-2.  We shipped 5-of-5: each is wired to a real backend module.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749039" cy="2148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9" y="2377440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06B6D4"/>
                </a:solidFill>
                <a:latin typeface="Space Grotesk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3749039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6B6D4"/>
                </a:solidFill>
                <a:latin typeface="JetBrains Mono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3200399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E5E7EB"/>
                </a:solidFill>
                <a:latin typeface="Inter"/>
              </a:rPr>
              <a:t>Knowledge 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320039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Triple-store knowledge + semantic search.  No vectors, no Chroma — fast on CPU and survives restarts.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2271" y="2240280"/>
            <a:ext cx="3749039" cy="2148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0" y="2377440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Space Grotesk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1" y="2697480"/>
            <a:ext cx="3749039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1" y="2423160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JetBrains Mono"/>
              </a:rPr>
              <a:t>Tool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2834640"/>
            <a:ext cx="3200399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E5E7EB"/>
                </a:solidFill>
                <a:latin typeface="Inter"/>
              </a:rPr>
              <a:t>Function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1" y="3429000"/>
            <a:ext cx="320039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Each role advertises tool grants via JSON.  Web search disabled in private mode; filesystem read/write whitelisted.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5902" y="2240280"/>
            <a:ext cx="3749039" cy="2148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84861" y="2377440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BBF24"/>
                </a:solidFill>
                <a:latin typeface="Space Grotesk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75902" y="2697480"/>
            <a:ext cx="3749039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2" y="2423160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BBF24"/>
                </a:solidFill>
                <a:latin typeface="JetBrains Mono"/>
              </a:rPr>
              <a:t>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2" y="2834640"/>
            <a:ext cx="3200399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E5E7EB"/>
                </a:solidFill>
                <a:latin typeface="Inter"/>
              </a:rPr>
              <a:t>Multi-step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2" y="3429000"/>
            <a:ext cx="320039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10 preset workgroups (dev_full, report_writing, code_review, …).  Each lists members + pipeline steps in JSON.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90288"/>
            <a:ext cx="3749039" cy="2148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9" y="4727448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ED1C24"/>
                </a:solidFill>
                <a:latin typeface="Space Grotesk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47488"/>
            <a:ext cx="3749039" cy="3657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73168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84648"/>
            <a:ext cx="3200399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E5E7EB"/>
                </a:solidFill>
                <a:latin typeface="Inter"/>
              </a:rPr>
              <a:t>Four-tier progressive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79008"/>
            <a:ext cx="320039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Blackboard → Experience → Knowledge with TTL → Per-role boundary.  Decay by design.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2391" y="4590288"/>
            <a:ext cx="3749039" cy="2148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0" y="4727448"/>
            <a:ext cx="457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 i="0">
                <a:solidFill>
                  <a:srgbClr val="F97316"/>
                </a:solidFill>
                <a:latin typeface="Space Grotesk"/>
              </a:rP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22391" y="5047488"/>
            <a:ext cx="3749039" cy="3657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1" y="4773168"/>
            <a:ext cx="2743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97316"/>
                </a:solidFill>
                <a:latin typeface="JetBrains Mono"/>
              </a:rPr>
              <a:t>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6711" y="5184648"/>
            <a:ext cx="3200399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E5E7EB"/>
                </a:solidFill>
                <a:latin typeface="Inter"/>
              </a:rPr>
              <a:t>Local-only inference guard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6711" y="5779008"/>
            <a:ext cx="3200399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94A3B8"/>
                </a:solidFill>
                <a:latin typeface="Inter"/>
              </a:rPr>
              <a:t>Runtime assert_local_endpoint() blocks any non-localhost base URL.  Verified against 3 remote hosts.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MEMORY IS THE DIFFERENTIATOR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Four tiers + utility scoring — the math that makes 19 agents a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217920" cy="292608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3010" y="21031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88820" y="224028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3487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1 · Blackboard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125730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Shared short-term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257300" cy="7772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Overwrite-on-update, no append.  Bounded growth.</a:t>
            </a:r>
          </a:p>
        </p:txBody>
      </p:sp>
      <p:sp>
        <p:nvSpPr>
          <p:cNvPr id="13" name="Oval 12"/>
          <p:cNvSpPr/>
          <p:nvPr/>
        </p:nvSpPr>
        <p:spPr>
          <a:xfrm>
            <a:off x="2663190" y="21031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29000" y="224028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1700" y="2743200"/>
            <a:ext cx="13487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JetBrains Mono"/>
              </a:rPr>
              <a:t>2 ·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3140" y="3154680"/>
            <a:ext cx="125730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Each success + failure recorded with utility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3140" y="3977639"/>
            <a:ext cx="1257300" cy="7772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+1 reused → −1 unhelpful → −2 misleading.</a:t>
            </a:r>
          </a:p>
        </p:txBody>
      </p:sp>
      <p:sp>
        <p:nvSpPr>
          <p:cNvPr id="18" name="Oval 17"/>
          <p:cNvSpPr/>
          <p:nvPr/>
        </p:nvSpPr>
        <p:spPr>
          <a:xfrm>
            <a:off x="4103370" y="210312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69180" y="2240280"/>
            <a:ext cx="182880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743200"/>
            <a:ext cx="13487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JetBrains Mono"/>
              </a:rPr>
              <a:t>3 ·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154680"/>
            <a:ext cx="125730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Triple-store with TTL:  6mo / 3mo / 2mo / permanent.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977639"/>
            <a:ext cx="1257300" cy="7772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Stale entries expire instead of silently misleading roles.</a:t>
            </a:r>
          </a:p>
        </p:txBody>
      </p:sp>
      <p:sp>
        <p:nvSpPr>
          <p:cNvPr id="23" name="Oval 22"/>
          <p:cNvSpPr/>
          <p:nvPr/>
        </p:nvSpPr>
        <p:spPr>
          <a:xfrm>
            <a:off x="5543550" y="2103120"/>
            <a:ext cx="457200" cy="457200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2060" y="2743200"/>
            <a:ext cx="13487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4 · Per-role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500" y="3154680"/>
            <a:ext cx="1257300" cy="8229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E5E7EB"/>
                </a:solidFill>
                <a:latin typeface="Inter"/>
              </a:rPr>
              <a:t>Each role accumulates only inside its own scope.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0" y="3977639"/>
            <a:ext cx="1257300" cy="7772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Information firewall prevents cross-role contamination.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1828800"/>
            <a:ext cx="4754880" cy="292608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965960"/>
            <a:ext cx="42062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THE MATH:  utility_score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331720"/>
            <a:ext cx="4206240" cy="1554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300" b="0" i="0">
                <a:solidFill>
                  <a:srgbClr val="E5E7EB"/>
                </a:solidFill>
                <a:latin typeface="JetBrains Mono"/>
              </a:rPr>
              <a:t>↑  +1  →  reused, task passed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300" b="0" i="0">
                <a:solidFill>
                  <a:srgbClr val="E5E7EB"/>
                </a:solidFill>
                <a:latin typeface="JetBrains Mono"/>
              </a:rPr>
              <a:t>←   0  →  not matched (no penalty)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300" b="0" i="0">
                <a:solidFill>
                  <a:srgbClr val="E5E7EB"/>
                </a:solidFill>
                <a:latin typeface="JetBrains Mono"/>
              </a:rPr>
              <a:t>↓  −1  →  injected, task failed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300" b="0" i="0">
                <a:solidFill>
                  <a:srgbClr val="E5E7EB"/>
                </a:solidFill>
                <a:latin typeface="JetBrains Mono"/>
              </a:rPr>
              <a:t>↓  −2  →  injected, actively misleading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300" b="0" i="0">
                <a:solidFill>
                  <a:srgbClr val="E5E7EB"/>
                </a:solidFill>
                <a:latin typeface="JetBrains Mono"/>
              </a:rPr>
              <a:t>✖  ≤−3 →  archived, never reused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11880"/>
            <a:ext cx="42062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WHY THIS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977640"/>
            <a:ext cx="4206240" cy="7772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1">
                <a:solidFill>
                  <a:srgbClr val="94A3B8"/>
                </a:solidFill>
                <a:latin typeface="Inter"/>
              </a:rPr>
              <a:t>Harvard 2025:  add-all experience replay hurts more than storing nothing — wrong experiences self-replicate.  Scoring + eviction break the loop.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29200"/>
            <a:ext cx="11094415" cy="128016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20640"/>
            <a:ext cx="1054577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HOW THE EVALUATOR SCORES A FINISHED RUN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897880"/>
            <a:ext cx="365760" cy="457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53212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4A3B8"/>
                </a:solidFill>
                <a:latin typeface="JetBrains Mono"/>
              </a:rPr>
              <a:t>Pipeline ends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3504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exec result ok?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185083" y="5623560"/>
            <a:ext cx="20116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96563" y="5897880"/>
            <a:ext cx="365760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5123" y="553212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Evaluator reads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5123" y="603504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rules + run log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867247" y="5623560"/>
            <a:ext cx="20116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5897880"/>
            <a:ext cx="36576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7287" y="553212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JetBrains Mono"/>
              </a:rPr>
              <a:t>vote(experience, ±1/0/−1/−2)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7287" y="603504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decided by run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549411" y="5623560"/>
            <a:ext cx="201168" cy="20116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60891" y="5897880"/>
            <a:ext cx="365760" cy="45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451" y="553212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Eviction at ≤−3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451" y="6035040"/>
            <a:ext cx="2499283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auto-archive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SPEED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59.9% system prompt slimming — measured at the character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937760" cy="2926080"/>
          </a:xfrm>
          <a:prstGeom prst="rect">
            <a:avLst/>
          </a:prstGeom>
          <a:solidFill>
            <a:srgbClr val="111827"/>
          </a:solidFill>
          <a:ln w="9525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20624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TOTAL PROMPT CJK CHARACTERS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82880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94A3B8"/>
                </a:solidFill>
                <a:latin typeface="Space Grotesk"/>
              </a:rPr>
              <a:t>38,190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97480"/>
            <a:ext cx="91440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ED1C24"/>
                </a:solidFill>
                <a:latin typeface="Space Grotesk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1828800" cy="1371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06B6D4"/>
                </a:solidFill>
                <a:latin typeface="Space Grotesk"/>
              </a:rPr>
              <a:t>15,317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19"/>
            <a:ext cx="4206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before  —  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20624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>
                <a:solidFill>
                  <a:srgbClr val="ED1C24"/>
                </a:solidFill>
                <a:latin typeface="Space Grotesk"/>
              </a:rPr>
              <a:t>−59.9%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160520"/>
            <a:ext cx="164592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E5E7EB"/>
                </a:solidFill>
                <a:latin typeface="Inter"/>
              </a:rPr>
              <a:t>across all 18 working role prompts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828800"/>
            <a:ext cx="6126480" cy="42062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65960"/>
            <a:ext cx="56692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PER-ROLE CJK CHARACTERS  —  before /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331720"/>
            <a:ext cx="26974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D1C24"/>
                </a:solidFill>
                <a:latin typeface="JetBrains Mono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331720"/>
            <a:ext cx="12344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D1C24"/>
                </a:solidFill>
                <a:latin typeface="JetBrains Mono"/>
              </a:rPr>
              <a:t>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331720"/>
            <a:ext cx="1143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D1C24"/>
                </a:solidFill>
                <a:latin typeface="JetBrains Mono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2331720"/>
            <a:ext cx="8686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D1C24"/>
                </a:solidFill>
                <a:latin typeface="JetBrains Mono"/>
              </a:rPr>
              <a:t>DELTA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624328"/>
            <a:ext cx="5669280" cy="1828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coach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3,882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868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2,453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1,086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−56%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2,084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640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−69%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designer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1,967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667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−66%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inspector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2,304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839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−64%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tester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2,057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717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−65%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deployer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1,941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847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−56%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knowledge_retriever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2,098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898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−57%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quality_checker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1,721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601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E5E7EB"/>
                </a:solidFill>
                <a:latin typeface="Inter"/>
              </a:rPr>
              <a:t>−65%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9 standard roles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(8,961)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(4,353)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−51%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2697480"/>
            <a:ext cx="26974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total / 18 roles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2697480"/>
            <a:ext cx="123444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38,190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2697480"/>
            <a:ext cx="114300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15,317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18520" y="2697480"/>
            <a:ext cx="86868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Inter"/>
              </a:rPr>
              <a:t>−59.9%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937760"/>
            <a:ext cx="11094415" cy="13716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" y="5074920"/>
            <a:ext cx="1054577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INFERENCE SPEED BENCHMARK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394960"/>
            <a:ext cx="1054577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5E7EB"/>
                </a:solidFill>
                <a:latin typeface="JetBrains Mono"/>
              </a:rPr>
              <a:t>PROMPT_VARIANT=slim  →  loader reads prompt.slim.txt; unset reads prompt.txt.  Switching is one env var.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94A3B8"/>
                </a:solidFill>
                <a:latin typeface="Inter"/>
              </a:rPr>
              <a:t>Live A/B TTFT + tokens/s + blind quality score:  not yet captured  —  awaiting Radeon Cloud queue window.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One Radeon.  No Docker.  Five shell commands to a running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858000" cy="443484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54864" cy="5029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14630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59" y="2057400"/>
            <a:ext cx="521208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Inter"/>
              </a:rPr>
              <a:t>AMD Radeon PRO W7900  ·  48GB GDDR6  ·  RDNA3 gfx1100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54864" cy="5029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14630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59" y="2743200"/>
            <a:ext cx="521208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Inter"/>
              </a:rPr>
              <a:t>Ubuntu 22.04  ·  ROCm 7.2  ·  llama.cpp + HIPBLAS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2044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14630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6B6D4"/>
                </a:solidFill>
                <a:latin typeface="JetBrains Mono"/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59" y="3429000"/>
            <a:ext cx="521208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Inter"/>
              </a:rPr>
              <a:t>Qwen2.5-14B-Instruct Q4_K_M  ·  Qwen2.5-VL-7B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14630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6B6D4"/>
                </a:solidFill>
                <a:latin typeface="JetBrains Mono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59" y="4114800"/>
            <a:ext cx="521208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Inter"/>
              </a:rPr>
              <a:t>ctx-size 8192–16384  ·  ngl 99  ·  GQA KV-cache 0.1875 MiB/token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9204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14630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JetBrains Mono"/>
              </a:rPr>
              <a:t>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59" y="4800600"/>
            <a:ext cx="521208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Inter"/>
              </a:rPr>
              <a:t>assert_local_endpoint()  ·  ALLOWED_HOSTS = localhost / 127.0.0.1 / ::1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57784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14630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JetBrains Mono"/>
              </a:rPr>
              <a:t>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59" y="5486400"/>
            <a:ext cx="521208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E5E7EB"/>
                </a:solidFill>
                <a:latin typeface="Inter"/>
              </a:rPr>
              <a:t>Settings(extra="ignore")  ·  ZHIPU/OPENAI/CLOUD_* all unreachable by field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828800"/>
            <a:ext cx="4160520" cy="4434840"/>
          </a:xfrm>
          <a:prstGeom prst="rect">
            <a:avLst/>
          </a:prstGeom>
          <a:solidFill>
            <a:srgbClr val="111827"/>
          </a:solidFill>
          <a:ln w="9525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2011680"/>
            <a:ext cx="36118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A/B SPEED 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2331720"/>
            <a:ext cx="36118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5E7EB"/>
                </a:solidFill>
                <a:latin typeface="Inter"/>
              </a:rPr>
              <a:t>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2377440"/>
            <a:ext cx="1280160" cy="411480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 w="635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JetBrains Mono"/>
              </a:rPr>
              <a:t>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971800"/>
            <a:ext cx="3611880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5E7EB"/>
                </a:solidFill>
                <a:latin typeface="Inter"/>
              </a:rPr>
              <a:t>Awaiting the Radeon Cloud GPU queue.  Three measurement dimensions will be published once the A/B run completes: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794760"/>
            <a:ext cx="54864" cy="2743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61188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prompt_tokens / dev_full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31920"/>
            <a:ext cx="33832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from llama-server usage field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4251960"/>
            <a:ext cx="54864" cy="2743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06908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TTFT  (first-token latency)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389120"/>
            <a:ext cx="33832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measured per request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4709160"/>
            <a:ext cx="54864" cy="2743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452628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end-to-end latency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4846320"/>
            <a:ext cx="33832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pipeline start → 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5166360"/>
            <a:ext cx="54864" cy="2743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98348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B6D4"/>
                </a:solidFill>
                <a:latin typeface="JetBrains Mono"/>
              </a:rPr>
              <a:t>quality (blind)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303520"/>
            <a:ext cx="338328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Inter"/>
              </a:rPr>
              <a:t>1–5 from quality_checker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5806440"/>
            <a:ext cx="36118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94A3B8"/>
                </a:solidFill>
                <a:latin typeface="JetBrains Mono"/>
              </a:rPr>
              <a:t>no fabricated numbers — measurements only.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14255" y="365760"/>
            <a:ext cx="1828800" cy="411480"/>
          </a:xfrm>
          <a:prstGeom prst="roundRect">
            <a:avLst>
              <a:gd name="adj" fmla="val 40000"/>
            </a:avLst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pace Grotesk"/>
              </a:rPr>
              <a:t>AMD RADEON  •  ROCm 7.2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48640" cy="5486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DEMO  ·  DEV_FULL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32688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E5E7EB"/>
                </a:solidFill>
                <a:latin typeface="Inter"/>
              </a:rPr>
              <a:t>Seven roles, one relay — plus the 90-second memory poisoning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323659" cy="5029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Inter"/>
              </a:rPr>
              <a:t>coach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323659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plan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6619" y="1965960"/>
            <a:ext cx="18288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29499" y="1783080"/>
            <a:ext cx="1323659" cy="5029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Inter"/>
              </a:rPr>
              <a:t>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9499" y="2377440"/>
            <a:ext cx="1323659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design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53158" y="1965960"/>
            <a:ext cx="18288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36038" y="1783080"/>
            <a:ext cx="1323659" cy="5029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Inter"/>
              </a:rP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6038" y="2377440"/>
            <a:ext cx="1323659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implement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59697" y="1965960"/>
            <a:ext cx="18288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2577" y="1783080"/>
            <a:ext cx="1323659" cy="5029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Inter"/>
              </a:rPr>
              <a:t>inspector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2577" y="2377440"/>
            <a:ext cx="1323659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audit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66237" y="1965960"/>
            <a:ext cx="18288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49117" y="1783080"/>
            <a:ext cx="1323659" cy="5029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Inter"/>
              </a:rPr>
              <a:t>tester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9117" y="2377440"/>
            <a:ext cx="1323659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verify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172776" y="1965960"/>
            <a:ext cx="18288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55656" y="1783080"/>
            <a:ext cx="1323659" cy="5029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Inter"/>
              </a:rPr>
              <a:t>deployer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5656" y="2377440"/>
            <a:ext cx="1323659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ship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79315" y="1965960"/>
            <a:ext cx="182880" cy="16459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62195" y="1783080"/>
            <a:ext cx="1323659" cy="5029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1905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D1C24"/>
                </a:solidFill>
                <a:latin typeface="Inter"/>
              </a:rPr>
              <a:t>evaluator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2195" y="2377440"/>
            <a:ext cx="1323659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JetBrains Mono"/>
              </a:rPr>
              <a:t>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788920"/>
            <a:ext cx="11094415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94A3B8"/>
                </a:solidFill>
                <a:latin typeface="Inter"/>
              </a:rPr>
              <a:t>Each hop carries  task context  +  prior artifacts  +  relevant retrieved memory.  Prompt slimming compounds:  -7 sequential prefills per 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11094415" cy="246888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77640"/>
            <a:ext cx="1054577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90-SECOND MEMORY POISONING TEST  —  a falsifiable demo of memory self-eviction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389120"/>
            <a:ext cx="1971995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6B6D4"/>
                </a:solidFill>
                <a:latin typeface="JetBrains Mono"/>
              </a:rPr>
              <a:t>0–15s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46320"/>
            <a:ext cx="197199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5E7EB"/>
                </a:solidFill>
                <a:latin typeface="Inter"/>
              </a:rPr>
              <a:t>First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971995" cy="10515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team fumbles through; experience recorded, utility_score = 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32115" y="4389120"/>
            <a:ext cx="1971995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0B981"/>
                </a:solidFill>
                <a:latin typeface="JetBrains Mono"/>
              </a:rPr>
              <a:t>15–35s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2115" y="4846320"/>
            <a:ext cx="197199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5E7EB"/>
                </a:solidFill>
                <a:latin typeface="Inter"/>
              </a:rPr>
              <a:t>Second 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2115" y="5257800"/>
            <a:ext cx="1971995" cy="10515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experience injected (highlighted), succeeds; evaluator awards +1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1270" y="4389120"/>
            <a:ext cx="1971995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BBF24"/>
                </a:solidFill>
                <a:latin typeface="JetBrains Mono"/>
              </a:rPr>
              <a:t>35–60s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1270" y="4846320"/>
            <a:ext cx="197199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5E7EB"/>
                </a:solidFill>
                <a:latin typeface="Inter"/>
              </a:rPr>
              <a:t>Poison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1270" y="5257800"/>
            <a:ext cx="1971995" cy="10515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operator tampers one record with wrong step; run fails; evaluator marks the misleader −2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50425" y="4389120"/>
            <a:ext cx="1971995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97316"/>
                </a:solidFill>
                <a:latin typeface="JetBrains Mono"/>
              </a:rPr>
              <a:t>60–80s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425" y="4846320"/>
            <a:ext cx="197199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5E7EB"/>
                </a:solidFill>
                <a:latin typeface="Inter"/>
              </a:rPr>
              <a:t>Repeat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425" y="5257800"/>
            <a:ext cx="1971995" cy="10515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tampered score → −3; auto-archived; pipeline returns to clean run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59580" y="4389120"/>
            <a:ext cx="1971995" cy="36576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6350">
            <a:solidFill>
              <a:srgbClr val="ED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D1C24"/>
                </a:solidFill>
                <a:latin typeface="JetBrains Mono"/>
              </a:rPr>
              <a:t>80–90s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9580" y="4846320"/>
            <a:ext cx="1971995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5E7EB"/>
                </a:solidFill>
                <a:latin typeface="Inter"/>
              </a:rPr>
              <a:t>Knowledge 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9580" y="5257800"/>
            <a:ext cx="1971995" cy="10515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94A3B8"/>
                </a:solidFill>
                <a:latin typeface="Inter"/>
              </a:rPr>
              <a:t>one TTL-expired triple displays “may be stale”, validates the freshness 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MyAgent — Local Private AI Development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46520"/>
            <a:ext cx="77724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D1C24"/>
                </a:solidFill>
                <a:latin typeface="JetBrains Mono"/>
              </a:rPr>
              <a:t>AMD AI DEVMASTER 2026  • 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0" b="1" i="0">
                <a:solidFill>
                  <a:srgbClr val="E5E7EB"/>
                </a:solidFill>
                <a:latin typeface="Space Grotesk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6B6D4"/>
                </a:solidFill>
                <a:latin typeface="Space Grotesk"/>
              </a:rPr>
              <a:t>MyAgent  ·  19 roles on one Radeon card  ·  zero remote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274320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2286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228600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Inter"/>
              </a:rPr>
              <a:t>bry9107795553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5120640"/>
            <a:ext cx="274320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5257800"/>
            <a:ext cx="2286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532120"/>
            <a:ext cx="228600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Inter"/>
              </a:rPr>
              <a:t>118060862@qq.com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120640"/>
            <a:ext cx="274320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5257800"/>
            <a:ext cx="2286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5532120"/>
            <a:ext cx="228600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Inter"/>
              </a:rPr>
              <a:t>[Link to demo video]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5120640"/>
            <a:ext cx="274320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5257800"/>
            <a:ext cx="22860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1C24"/>
                </a:solidFill>
                <a:latin typeface="JetBrains Mono"/>
              </a:rPr>
              <a:t>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532120"/>
            <a:ext cx="2286000" cy="457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Inter"/>
              </a:rPr>
              <a:t>github.com/bry9107795553/MyAgent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JetBrains Mono"/>
              </a:rPr>
              <a:t>AMD Radeon PRO W7900  •  ROCm 7.2  •  llama.cpp + HIPBLAS  •  Qwen2.5-14B-Instruct Q4_K_M  •  FastAPI  •  Vue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